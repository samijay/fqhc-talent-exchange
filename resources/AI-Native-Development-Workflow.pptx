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731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D4BF"/>
                </a:solidFill>
                <a:latin typeface="Calibri"/>
              </a:defRPr>
            </a:pPr>
            <a:r>
              <a:t>⌨  CLAUDE CODE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The AI-Native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DD4BF"/>
                </a:solidFill>
                <a:latin typeface="Calibri"/>
              </a:defRPr>
            </a:pPr>
            <a:r>
              <a:t>Development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56616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A29E"/>
                </a:solidFill>
                <a:latin typeface="Calibri"/>
              </a:defRPr>
            </a:pPr>
            <a:r>
              <a:t>How one person built a 110+ feature strategic intelligence</a:t>
            </a:r>
            <a:br/>
            <a:r>
              <a:t>platform in 3 weeks using Claude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4754880"/>
            <a:ext cx="2286000" cy="128016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  <a:latin typeface="Calibri"/>
              </a:defRPr>
            </a:pPr>
            <a:r>
              <a:t>110+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16C"/>
                </a:solidFill>
                <a:latin typeface="Calibri"/>
              </a:defRPr>
            </a:pPr>
            <a:r>
              <a:t>Features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754880"/>
            <a:ext cx="2286000" cy="128016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16C"/>
                </a:solidFill>
                <a:latin typeface="Calibri"/>
              </a:defRPr>
            </a:pPr>
            <a:r>
              <a:t>FQHCs Tracked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754880"/>
            <a:ext cx="2286000" cy="128016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16C"/>
                </a:solidFill>
                <a:latin typeface="Calibri"/>
              </a:defRPr>
            </a:pPr>
            <a:r>
              <a:t>Weeks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754880"/>
            <a:ext cx="2286000" cy="128016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16C"/>
                </a:solidFill>
                <a:latin typeface="Calibri"/>
              </a:defRPr>
            </a:pPr>
            <a:r>
              <a:t>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⚠  THE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California's safety-net workforce</a:t>
            </a:r>
          </a:p>
          <a:p>
            <a:pPr algn="l">
              <a:spcAft>
                <a:spcPts val="400"/>
              </a:spcAft>
              <a:defRPr sz="4400" b="1">
                <a:solidFill>
                  <a:srgbClr val="F87171"/>
                </a:solidFill>
                <a:latin typeface="Calibri"/>
              </a:defRPr>
            </a:pPr>
            <a:r>
              <a:t>is collapsing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A29E"/>
                </a:solidFill>
                <a:latin typeface="Calibri"/>
              </a:defRPr>
            </a:pPr>
            <a:r>
              <a:t>Federally Qualified Health Centers serve 7.8M Californians — mostly uninsured, undocumented, and low-income. They're facing the worst funding crisis in 60 years.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2468880" cy="1645920"/>
          </a:xfrm>
          <a:prstGeom prst="roundRect">
            <a:avLst/>
          </a:prstGeom>
          <a:solidFill>
            <a:srgbClr val="2A0A0A"/>
          </a:solidFill>
          <a:ln w="12700">
            <a:solidFill>
              <a:srgbClr val="5C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7171"/>
                </a:solidFill>
                <a:latin typeface="Calibri"/>
              </a:defRPr>
            </a:pPr>
            <a:r>
              <a:t>$4.6B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8A29E"/>
                </a:solidFill>
                <a:latin typeface="Calibri"/>
              </a:defRPr>
            </a:pPr>
            <a:r>
              <a:t>Federal funding at risk</a:t>
            </a:r>
            <a:br/>
            <a:r>
              <a:t>from H.R.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389120"/>
            <a:ext cx="2468880" cy="1645920"/>
          </a:xfrm>
          <a:prstGeom prst="roundRect">
            <a:avLst/>
          </a:prstGeom>
          <a:solidFill>
            <a:srgbClr val="2A0A0A"/>
          </a:solidFill>
          <a:ln w="12700">
            <a:solidFill>
              <a:srgbClr val="5C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7171"/>
                </a:solidFill>
                <a:latin typeface="Calibri"/>
              </a:defRPr>
            </a:pPr>
            <a:r>
              <a:t>3,477+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257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8A29E"/>
                </a:solidFill>
                <a:latin typeface="Calibri"/>
              </a:defRPr>
            </a:pPr>
            <a:r>
              <a:t>Healthcare workers</a:t>
            </a:r>
            <a:br/>
            <a:r>
              <a:t>displaced in 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2468880" cy="1645920"/>
          </a:xfrm>
          <a:prstGeom prst="roundRect">
            <a:avLst/>
          </a:prstGeom>
          <a:solidFill>
            <a:srgbClr val="2A0A0A"/>
          </a:solidFill>
          <a:ln w="12700">
            <a:solidFill>
              <a:srgbClr val="5C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7171"/>
                </a:solidFill>
                <a:latin typeface="Calibri"/>
              </a:defRPr>
            </a:pPr>
            <a:r>
              <a:t>84%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57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8A29E"/>
                </a:solidFill>
                <a:latin typeface="Calibri"/>
              </a:defRPr>
            </a:pPr>
            <a:r>
              <a:t>Of FQHCs report</a:t>
            </a:r>
            <a:br/>
            <a:r>
              <a:t>workforce shortages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4389120"/>
            <a:ext cx="2468880" cy="1645920"/>
          </a:xfrm>
          <a:prstGeom prst="roundRect">
            <a:avLst/>
          </a:prstGeom>
          <a:solidFill>
            <a:srgbClr val="2A0A0A"/>
          </a:solidFill>
          <a:ln w="12700">
            <a:solidFill>
              <a:srgbClr val="5C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7171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257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8A29E"/>
                </a:solidFill>
                <a:latin typeface="Calibri"/>
              </a:defRPr>
            </a:pPr>
            <a:r>
              <a:t>Revenue loss projected</a:t>
            </a:r>
            <a:br/>
            <a:r>
              <a:t>for some FQHCs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🚀 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 full strategic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A29E"/>
                </a:solidFill>
                <a:latin typeface="Calibri"/>
              </a:defRPr>
            </a:pPr>
            <a:r>
              <a:t>Live at fqhctalent.com — built for FQHC executives tracking the political landscape and workforce crisis.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214 FQHC Directory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01752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Intelligence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Layoff Tracker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01752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AI Adoption Tracker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1188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13 Blog Articles (EN/ES)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61188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9 Regional Dashboards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1188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220 Strategic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361188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Resume Builder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0624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Salary Intelligence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20624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Resilience Scorecard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20624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Career Assessment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420624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15 Masterclasses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80060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6 Slash Commands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480060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Funding Impact Tracker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80060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Fully Bilingual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4800600"/>
            <a:ext cx="2468880" cy="4572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▸ FQHC Comparison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Built by one person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1031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A29E"/>
                </a:solidFill>
                <a:latin typeface="Calibri"/>
              </a:defRPr>
            </a:pPr>
            <a:r>
              <a:t>A self-described beginner with no prior React, Next.js,</a:t>
            </a:r>
            <a:br/>
            <a:r>
              <a:t>or TypeScript experience.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3200400"/>
            <a:ext cx="6400800" cy="21031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3383280"/>
            <a:ext cx="5852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ourier New"/>
              </a:defRPr>
            </a:pPr>
            <a:r>
              <a:t>// from CLAUDE.md</a:t>
            </a:r>
            <a:br/>
            <a:br/>
            <a:r>
              <a:t>preferences:</a:t>
            </a:r>
            <a:br/>
            <a:r>
              <a:t>  - "I am a beginner — explain things clearly"</a:t>
            </a:r>
            <a:br/>
            <a:r>
              <a:t>  - "Keep code simple and readable"</a:t>
            </a:r>
            <a:br/>
            <a:r>
              <a:t>  - "Always test that code compiles"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secret weapon?  ⌨  Claude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⌨  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Claude Code = AI in your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A29E"/>
                </a:solidFill>
                <a:latin typeface="Calibri"/>
              </a:defRPr>
            </a:pPr>
            <a:r>
              <a:t>An agentic coding tool that lives in your terminal. It reads your codebase, writes code, runs commands, and thinks about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5486400" cy="3200400"/>
          </a:xfrm>
          <a:prstGeom prst="roundRect">
            <a:avLst/>
          </a:prstGeom>
          <a:solidFill>
            <a:srgbClr val="09090B"/>
          </a:solidFill>
          <a:ln w="12700">
            <a:solidFill>
              <a:srgbClr val="292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urier New"/>
              </a:defRPr>
            </a:pPr>
            <a:r>
              <a:t>$ claude "add dark mode to settings"</a:t>
            </a:r>
            <a:br/>
            <a:br/>
            <a:r>
              <a:t>I'll plan this implementation first...</a:t>
            </a:r>
            <a:br/>
            <a:br/>
            <a:r>
              <a:t>Reading src/app/settings/page.tsx...</a:t>
            </a:r>
            <a:br/>
            <a:r>
              <a:t>Reading src/lib/theme-config.ts...</a:t>
            </a:r>
            <a:br/>
            <a:br/>
            <a:r>
              <a:t>Plan:</a:t>
            </a:r>
            <a:br/>
            <a:r>
              <a:t>1. Add theme toggle component</a:t>
            </a:r>
            <a:br/>
            <a:r>
              <a:t>2. Wire up next-themes provider</a:t>
            </a:r>
            <a:br/>
            <a:r>
              <a:t>3. Update CSS variables</a:t>
            </a:r>
            <a:br/>
            <a:br/>
            <a:r>
              <a:t>Shall I proceed? (Y/n)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200400"/>
            <a:ext cx="5029200" cy="6858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3246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Reads your entire codebase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478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Understands structure, patterns,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977640"/>
            <a:ext cx="5029200" cy="6858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4023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Writes production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3251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TypeScript, React, API routes, data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754880"/>
            <a:ext cx="5029200" cy="6858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800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Runs commands &amp; verifies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1023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npm run build, git commit, curl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5532120"/>
            <a:ext cx="5029200" cy="68580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5577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84FC"/>
                </a:solidFill>
                <a:latin typeface="Calibri"/>
              </a:defRPr>
            </a:pPr>
            <a:r>
              <a:t>Remembers via CLAUDE.md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8795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Project memory persists across sessions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🔄  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build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A29E"/>
                </a:solidFill>
                <a:latin typeface="Calibri"/>
              </a:defRPr>
            </a:pPr>
            <a:r>
              <a:t>Every feature follows the same cycle. Claude Code handles 90% of the execution — I provide direction and domain expertise.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01168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2011680" cy="2011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1. Describe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Tell Claude what</a:t>
            </a:r>
            <a:br/>
            <a:r>
              <a:t>to build in plain</a:t>
            </a:r>
            <a:br/>
            <a:r>
              <a:t>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871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200400"/>
            <a:ext cx="2011680" cy="7315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3291840"/>
            <a:ext cx="2011680" cy="2011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2.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8862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Claude explores</a:t>
            </a:r>
            <a:br/>
            <a:r>
              <a:t>codebase, proposes</a:t>
            </a:r>
            <a:br/>
            <a: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871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200400"/>
            <a:ext cx="2011680" cy="731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0" y="3291840"/>
            <a:ext cx="2011680" cy="2011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3.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8862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Claude writes code</a:t>
            </a:r>
            <a:br/>
            <a:r>
              <a:t>across multiple</a:t>
            </a:r>
            <a:br/>
            <a:r>
              <a:t>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871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200400"/>
            <a:ext cx="2011680" cy="7315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0" y="3291840"/>
            <a:ext cx="2011680" cy="2011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4.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8862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npm run build —</a:t>
            </a:r>
            <a:br/>
            <a:r>
              <a:t>must compile</a:t>
            </a:r>
            <a:br/>
            <a:r>
              <a:t>clean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871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3200400"/>
            <a:ext cx="2011680" cy="73152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75520" y="3291840"/>
            <a:ext cx="2011680" cy="2011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  <a:latin typeface="Calibri"/>
              </a:defRPr>
            </a:pPr>
            <a:r>
              <a:t>5. 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8862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Git commit + push</a:t>
            </a:r>
            <a:br/>
            <a:r>
              <a:t>→ live on Vercel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5669280"/>
            <a:ext cx="5760720" cy="640080"/>
          </a:xfrm>
          <a:prstGeom prst="roundRect">
            <a:avLst/>
          </a:prstGeom>
          <a:solidFill>
            <a:srgbClr val="2A1A05"/>
          </a:solidFill>
          <a:ln w="12700">
            <a:solidFill>
              <a:srgbClr val="5C3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5760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BF24"/>
                </a:solidFill>
                <a:latin typeface="Calibri"/>
              </a:defRPr>
            </a:pPr>
            <a:r>
              <a:t>Average time from idea → deployed feature:  20-45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⌨ 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Slash commands as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A29E"/>
                </a:solidFill>
                <a:latin typeface="Calibri"/>
              </a:defRPr>
            </a:pPr>
            <a:r>
              <a:t>Custom commands in .claude/commands/ that encode complex workflows as reusable playbooks.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3474720" cy="16459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ourier New"/>
              </a:defRPr>
            </a:pPr>
            <a:r>
              <a:t>/daily-update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WARN Act + job scan + policy scan + AI + news + regional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20 searches  •  ~20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3017520"/>
            <a:ext cx="3474720" cy="16459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ourier New"/>
              </a:defRPr>
            </a:pPr>
            <a:r>
              <a:t>/scan-policy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566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Deep legislative scanner: federal, state, local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10+ sources  •  ~15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8" y="3017520"/>
            <a:ext cx="3474720" cy="16459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8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ourier New"/>
              </a:defRPr>
            </a:pPr>
            <a:r>
              <a:t>/intel-brief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8" y="3566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Generate weekly newsletter with primary source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8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Aggregation  •  ~10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46320"/>
            <a:ext cx="3474720" cy="16459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ourier New"/>
              </a:defRPr>
            </a:pPr>
            <a:r>
              <a:t>/update-layoffs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Fetch CA WARN Act XLSX, parse, filter, cross-reference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35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EDD data  •  ~5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19" y="4846320"/>
            <a:ext cx="3474720" cy="16459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4983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ourier New"/>
              </a:defRPr>
            </a:pPr>
            <a:r>
              <a:t>/scrape-jobs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5394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Check FQHC career pages via Workday/Lever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6035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4 APIs  •  ~3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8" y="4846320"/>
            <a:ext cx="3474720" cy="16459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8" y="4983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ourier New"/>
              </a:defRPr>
            </a:pPr>
            <a:r>
              <a:t>/draft-blog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8" y="5394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Suggest topics from data, draft bilingual article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6035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Data + web  •  ~30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▶ 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daily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A29E"/>
                </a:solidFill>
                <a:latin typeface="Calibri"/>
              </a:defRPr>
            </a:pPr>
            <a:r>
              <a:t>Every morning, one command updates the entire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10058400" cy="36576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●  ●  ●   claude-code — daily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834640"/>
            <a:ext cx="10058400" cy="3749040"/>
          </a:xfrm>
          <a:prstGeom prst="round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9509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ourier New"/>
              </a:defRPr>
            </a:pPr>
            <a:r>
              <a:t>$ /daily-update</a:t>
            </a:r>
            <a:br/>
            <a:br/>
            <a:r>
              <a:t>=== DAILY UPDATE 2026-03-05 ===</a:t>
            </a:r>
            <a:br/>
            <a:br/>
            <a:r>
              <a:t>Step 1: WARN Act Check</a:t>
            </a:r>
            <a:br/>
            <a:r>
              <a:t>  → Downloading CA EDD WARN XLSX...</a:t>
            </a:r>
            <a:br/>
            <a:r>
              <a:t>  → 126 healthcare entries, 0 FQHC filings</a:t>
            </a:r>
            <a:br/>
            <a:br/>
            <a:r>
              <a:t>Step 2: Job Scan (4 APIs in parallel)</a:t>
            </a:r>
            <a:br/>
            <a:r>
              <a:t>  → AltaMed: 228  |  FHCSD: 150  |  AHS: 19  |  La Clinica: 179</a:t>
            </a:r>
            <a:br/>
            <a:r>
              <a:t>  → Total: 576 jobs (stable)</a:t>
            </a:r>
            <a:br/>
            <a:br/>
            <a:r>
              <a:t>Step 3: Legislative &amp; Policy Scan → SD County safety net overhaul (Critical)</a:t>
            </a:r>
            <a:br/>
            <a:r>
              <a:t>Step 3.5: News &amp; Intelligence Scan → +6 new intel items</a:t>
            </a:r>
            <a:br/>
            <a:r>
              <a:t>Step 3.8: Regional Scan (San Diego + Inland Empire) → $300M county funding loss</a:t>
            </a:r>
            <a:br/>
            <a:br/>
            <a:r>
              <a:t>Step 4.5: Link QC → 4 new URLs verified, 0 broken</a:t>
            </a:r>
            <a:br/>
            <a:r>
              <a:t>Build: PASS ✓    Intel items: 55 total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✨  REAL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Prompts →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A29E"/>
                </a:solidFill>
                <a:latin typeface="Calibri"/>
              </a:defRPr>
            </a:pPr>
            <a:r>
              <a:t>Real prompts from the build. Each produced a complete, deployed feature.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51760"/>
            <a:ext cx="10332720" cy="868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834640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432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D4BF"/>
                </a:solidFill>
                <a:latin typeface="Courier New"/>
              </a:defRPr>
            </a:pPr>
            <a:r>
              <a:t>"Build a resilience scorecard that scores all 220 FQHCs across 5 dimensions"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08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→ Scoring engine (350 lines) + interactive page with search, filter, sort, grade distribution viz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~40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10332720" cy="868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840480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4904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D4BF"/>
                </a:solidFill>
                <a:latin typeface="Courier New"/>
              </a:defRPr>
            </a:pPr>
            <a:r>
              <a:t>"Add regional intelligence pages — one dashboard per CA region"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→ 9 SSG pages × 2 locales = 18 static pages with per-region stats, resilience, EHR,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~35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63440"/>
            <a:ext cx="10332720" cy="868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4846320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D4BF"/>
                </a:solidFill>
                <a:latin typeface="Courier New"/>
              </a:defRPr>
            </a:pPr>
            <a:r>
              <a:t>"We missed a massive SF crisis. Build a regional news scanning system."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20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→ Regional config (9 regions), 5-day rotation, 3 query templates, pipeline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~45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669280"/>
            <a:ext cx="10332720" cy="868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5852160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852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7607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D4BF"/>
                </a:solidFill>
                <a:latin typeface="Courier New"/>
              </a:defRPr>
            </a:pPr>
            <a:r>
              <a:t>"Make AltaMed incredible"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6126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→ Deep research: Glassdoor 3.6/1.4K, 3K+ staff, 300K patients, Epic, 7 programs, union info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172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~20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🤖 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Background agents for parallel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A29E"/>
                </a:solidFill>
                <a:latin typeface="Calibri"/>
              </a:defRPr>
            </a:pPr>
            <a:r>
              <a:t>Claude Code can spawn background research agents that work simultaneously. I used this to enrich 220 FQHCs with real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10058400" cy="36576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16C"/>
                </a:solidFill>
                <a:latin typeface="Calibri"/>
              </a:defRPr>
            </a:pPr>
            <a:r>
              <a:t>●  ●  ●   claude-code — parallel enrichment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291840"/>
            <a:ext cx="10058400" cy="2651760"/>
          </a:xfrm>
          <a:prstGeom prst="round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9509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ourier New"/>
              </a:defRPr>
            </a:pPr>
            <a:r>
              <a:t>$ Enrich the next batch of HRSA FQHCs</a:t>
            </a:r>
            <a:br/>
            <a:br/>
            <a:r>
              <a:t>Launching 6 research agents in parallel...</a:t>
            </a:r>
            <a:br/>
            <a:br/>
            <a:r>
              <a:t>Agent 1: Bay Area FQHCs (14 orgs)      [RUNNING]</a:t>
            </a:r>
            <a:br/>
            <a:r>
              <a:t>Agent 2: Central Valley + SD (10 orgs)  [RUNNING]</a:t>
            </a:r>
            <a:br/>
            <a:r>
              <a:t>Agent 3: Sacramento + Coast (6 orgs)    [RUNNING]</a:t>
            </a:r>
            <a:br/>
            <a:r>
              <a:t>Agent 4: North State + Coast (11 orgs)  [RUNNING]</a:t>
            </a:r>
            <a:br/>
            <a:r>
              <a:t>Agent 5: LA batch 1 (20 orgs)           [RUNNING]</a:t>
            </a:r>
            <a:br/>
            <a:r>
              <a:t>Agent 6: LA batch 2 (20 orgs)           [RUNNING]</a:t>
            </a:r>
            <a:br/>
            <a:br/>
            <a:r>
              <a:t>→ 6 agents × ~15 min each = 81 FQHCs enriched in parallel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6126480"/>
            <a:ext cx="7589520" cy="548640"/>
          </a:xfrm>
          <a:prstGeom prst="roundRect">
            <a:avLst/>
          </a:prstGeom>
          <a:solidFill>
            <a:srgbClr val="2A1A05"/>
          </a:solidFill>
          <a:ln w="12700">
            <a:solidFill>
              <a:srgbClr val="5C3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61722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BF24"/>
                </a:solidFill>
                <a:latin typeface="Calibri"/>
              </a:defRPr>
            </a:pPr>
            <a:r>
              <a:t>Without agents: ~15 hours.  With agents: ~15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🗄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15+ data files as the intelligence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A29E"/>
                </a:solidFill>
                <a:latin typeface="Calibri"/>
              </a:defRPr>
            </a:pPr>
            <a:r>
              <a:t>The real product isn't the UI — it's the structured data underneath.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3474720" cy="11887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ourier New"/>
              </a:defRPr>
            </a:pPr>
            <a:r>
              <a:t>california-fqhcs.ts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230KB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29E"/>
                </a:solidFill>
                <a:latin typeface="Calibri"/>
              </a:defRPr>
            </a:pPr>
            <a:r>
              <a:t>220 FQHCs: Glassdoor, programs, EHR, salary, union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2834640"/>
            <a:ext cx="3474720" cy="11887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926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ourier New"/>
              </a:defRPr>
            </a:pPr>
            <a:r>
              <a:t>fqhc-job-listings.ts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9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125KB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291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29E"/>
                </a:solidFill>
                <a:latin typeface="Calibri"/>
              </a:defRPr>
            </a:pPr>
            <a:r>
              <a:t>156 listings: salary, role, region, requirements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8" y="2834640"/>
            <a:ext cx="3474720" cy="11887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8" y="2926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ourier New"/>
              </a:defRPr>
            </a:pPr>
            <a:r>
              <a:t>funding-impact-data.ts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58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123KB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8" y="3291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29E"/>
                </a:solidFill>
                <a:latin typeface="Calibri"/>
              </a:defRPr>
            </a:pPr>
            <a:r>
              <a:t>H.R. 1 timeline, revenue strategies, enrollment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3474720" cy="11887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ourier New"/>
              </a:defRPr>
            </a:pPr>
            <a:r>
              <a:t>fqhc-news-intel.ts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530 ln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29E"/>
                </a:solidFill>
                <a:latin typeface="Calibri"/>
              </a:defRPr>
            </a:pPr>
            <a:r>
              <a:t>55 curated intel items, 8 categories, bilingual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19" y="4160520"/>
            <a:ext cx="3474720" cy="11887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ourier New"/>
              </a:defRPr>
            </a:pPr>
            <a:r>
              <a:t>scope-of-practice.ts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19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1684 ln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29E"/>
                </a:solidFill>
                <a:latin typeface="Calibri"/>
              </a:defRPr>
            </a:pPr>
            <a:r>
              <a:t>10 CA roles, delegation matrix, BPC citations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8" y="4160520"/>
            <a:ext cx="3474720" cy="11887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8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ourier New"/>
              </a:defRPr>
            </a:pPr>
            <a:r>
              <a:t>fqhc-movement-history.ts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58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1332 ln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8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29E"/>
                </a:solidFill>
                <a:latin typeface="Calibri"/>
              </a:defRPr>
            </a:pPr>
            <a:r>
              <a:t>30 events, 5 eras, 8 cross-cultural alliances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86400"/>
            <a:ext cx="3474720" cy="11887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ourier New"/>
              </a:defRPr>
            </a:pPr>
            <a:r>
              <a:t>career-assessment-engine.ts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40KB+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43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29E"/>
                </a:solidFill>
                <a:latin typeface="Calibri"/>
              </a:defRPr>
            </a:pPr>
            <a:r>
              <a:t>55 questions, 5 domains, role scoring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19" y="5486400"/>
            <a:ext cx="3474720" cy="11887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79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ourier New"/>
              </a:defRPr>
            </a:pPr>
            <a:r>
              <a:t>fqhc-resilience.ts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19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350 ln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79" y="5943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29E"/>
                </a:solidFill>
                <a:latin typeface="Calibri"/>
              </a:defRPr>
            </a:pPr>
            <a:r>
              <a:t>5-dimension scoring for all 220 FQHCs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58" y="5486400"/>
            <a:ext cx="3474720" cy="118872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8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ourier New"/>
              </a:defRPr>
            </a:pPr>
            <a:r>
              <a:t>regional-news-sources.ts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58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16C"/>
                </a:solidFill>
                <a:latin typeface="Calibri"/>
              </a:defRPr>
            </a:pPr>
            <a:r>
              <a:t>350 ln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8" y="5943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29E"/>
                </a:solidFill>
                <a:latin typeface="Calibri"/>
              </a:defRPr>
            </a:pPr>
            <a:r>
              <a:t>9 regions, outlets, rotation schedule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📄  THE SECRET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CLAUDE.md = Project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A29E"/>
                </a:solidFill>
                <a:latin typeface="Calibri"/>
              </a:defRPr>
            </a:pPr>
            <a:r>
              <a:t>A markdown file checked into your repo that Claude reads at the start of every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A29E"/>
                </a:solidFill>
                <a:latin typeface="Calibri"/>
              </a:defRPr>
            </a:pPr>
            <a:r>
              <a:t>What's in ours (900+ lines):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✓  Project stack &amp; conventions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✓  Every feature ever built (110+ entries)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✓  Data source inventory (15+ files with sizes)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✓  Slash command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✓  Session log with daily summaries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✓  Decisions made (with reasoning)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✓  Nav structure &amp; color palette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✓  Terms glossary (FQHC, ECM, CalAIM...)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✓  Database schema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6080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✓  What's NOT built yet (MVP gaps)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5029200" cy="38404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ourier New"/>
              </a:defRPr>
            </a:pPr>
            <a:r>
              <a:t>Session Log (excerpt)</a:t>
            </a:r>
            <a:br/>
            <a:br/>
            <a:r>
              <a:t>2026-03-05  Daily update #11 + regional</a:t>
            </a:r>
            <a:br/>
            <a:r>
              <a:t>            news scanning system</a:t>
            </a:r>
            <a:br/>
            <a:r>
              <a:t>2026-03-04  Locum tenens + SF crisis</a:t>
            </a:r>
            <a:br/>
            <a:r>
              <a:t>            cluster (8 intel items)</a:t>
            </a:r>
            <a:br/>
            <a:r>
              <a:t>2026-03-03  Daily update #8 + branding</a:t>
            </a:r>
            <a:br/>
            <a:r>
              <a:t>2026-03-01  Masterclass + bibliography</a:t>
            </a:r>
            <a:br/>
            <a:r>
              <a:t>2026-02-28  🎉 100th feature shipped!</a:t>
            </a:r>
            <a:br/>
            <a:r>
              <a:t>2026-02-27  Strategic pivot — Rumelt</a:t>
            </a:r>
            <a:br/>
            <a:r>
              <a:t>            framework homepage</a:t>
            </a:r>
            <a:br/>
            <a:r>
              <a:t>...         16 session entries total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⏱  3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timeline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8800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Feb 16-18: Foundation</a:t>
            </a:r>
            <a:br/>
            <a:br/>
            <a:r>
              <a:t>• Career assessment (55 questions, 5 domains)</a:t>
            </a:r>
            <a:br/>
            <a:r>
              <a:t>• Resume builder (8 templates, PDF)</a:t>
            </a:r>
            <a:br/>
            <a:r>
              <a:t>• Daily content pipeline (4 slash commands)</a:t>
            </a:r>
            <a:br/>
            <a:r>
              <a:t>• FQHC directory (90 curated orgs)</a:t>
            </a:r>
            <a:br/>
            <a:r>
              <a:t>• Security audit (20 vectors, 0 vulns)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Feb 19-28: Intelligence Pivot</a:t>
            </a:r>
            <a:br/>
            <a:br/>
            <a:r>
              <a:t>• Directory: 90 → 220 FQHCs (HRSA data)</a:t>
            </a:r>
            <a:br/>
            <a:r>
              <a:t>• Pivot: job board → executive monitor</a:t>
            </a:r>
            <a:br/>
            <a:r>
              <a:t>• Rumelt framework homepage</a:t>
            </a:r>
            <a:br/>
            <a:r>
              <a:t>• 5 strategy pages + 4 interactive vizs</a:t>
            </a:r>
            <a:br/>
            <a:r>
              <a:t>• Newsletter system (2 tracks)</a:t>
            </a:r>
            <a:br/>
            <a:r>
              <a:t>• 100th feature shipped 🎉</a:t>
            </a:r>
          </a:p>
        </p:txBody>
      </p:sp>
      <p:sp>
        <p:nvSpPr>
          <p:cNvPr id="10" name="Oval 9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29E"/>
                </a:solidFill>
                <a:latin typeface="Calibri"/>
              </a:defRPr>
            </a:pPr>
            <a:r>
              <a:t>Mar 1-5: Scale &amp; Depth</a:t>
            </a:r>
            <a:br/>
            <a:br/>
            <a:r>
              <a:t>• 15 executive masterclass modules</a:t>
            </a:r>
            <a:br/>
            <a:r>
              <a:t>• 200+ resource bibliography</a:t>
            </a:r>
            <a:br/>
            <a:r>
              <a:t>• Regional news scanning (9 regions)</a:t>
            </a:r>
            <a:br/>
            <a:r>
              <a:t>• SF crisis response: 8 intel items</a:t>
            </a:r>
            <a:br/>
            <a:r>
              <a:t>• FQHC enrichment: 35+ orgs</a:t>
            </a:r>
            <a:br/>
            <a:r>
              <a:t>• 220 per-FQHC strategic reports</a:t>
            </a:r>
            <a:br/>
            <a:r>
              <a:t>• Offboarding toolkit + intake 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5303520"/>
            <a:ext cx="3931920" cy="1097280"/>
          </a:xfrm>
          <a:prstGeom prst="roundRect">
            <a:avLst/>
          </a:prstGeom>
          <a:solidFill>
            <a:srgbClr val="0A2A2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5440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BF"/>
                </a:solidFill>
                <a:latin typeface="Calibri"/>
              </a:defRPr>
            </a:pPr>
            <a:r>
              <a:t>110+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943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16C"/>
                </a:solidFill>
                <a:latin typeface="Calibri"/>
              </a:defRPr>
            </a:pPr>
            <a:r>
              <a:t>features in 16 sessions  •  ~7 per session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📐 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Patterns that worked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5303520" cy="2011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1. Data-first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Build the data files first, UI second. The 230KB FQHC directory, the assessment engine, the intel feed — these TypeScript data files ARE the product. Claude Code is excellent at maintaining structured data at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86000"/>
            <a:ext cx="5303520" cy="2011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2. CLAUDE.md as institutional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Every decision, every feature, every data source — logged in CLAUDE.md. When Claude reads this at session start, it has full context. No re-explaining. No drift. 900+ lines of cumulative knowledge.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5303520" cy="2011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3. Slash commands as playbooks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Encode complex multi-step workflows as markdown instructions. The daily-update pipeline is 300+ lines of instructions. Claude follows them like a senior dev following a runbook.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572000"/>
            <a:ext cx="5303520" cy="201168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84FC"/>
                </a:solidFill>
                <a:latin typeface="Calibri"/>
              </a:defRPr>
            </a:pPr>
            <a:r>
              <a:t>4. Plan mode for non-trivial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2120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29E"/>
                </a:solidFill>
                <a:latin typeface="Calibri"/>
              </a:defRPr>
            </a:pPr>
            <a:r>
              <a:t>Always have Claude plan before building anything complex. The planning step catches architectural mistakes, surfaces edge cases, and produces better code on the first pass.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✨  REFLECTIONS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 surprised me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Speed is non-linear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29E"/>
                </a:solidFill>
                <a:latin typeface="Calibri"/>
              </a:defRPr>
            </a:pPr>
            <a:r>
              <a:t>As CLAUDE.md grows and conventions solidify, Claude gets faster, not slower. It remembers your patterns.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Domain expertise still matters most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03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29E"/>
                </a:solidFill>
                <a:latin typeface="Calibri"/>
              </a:defRPr>
            </a:pPr>
            <a:r>
              <a:t>Claude can write any code — but it can't tell you what to build. Knowing the FQHC industry, understanding the crisis — that's the human edge.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product pivoted — and that was 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00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29E"/>
                </a:solidFill>
                <a:latin typeface="Calibri"/>
              </a:defRPr>
            </a:pPr>
            <a:r>
              <a:t>Started as job board → became strategic intelligence platform. Claude Code handled the architectural shift in one session.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532120"/>
            <a:ext cx="457200" cy="45720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"Beginner" became irrelevant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897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29E"/>
                </a:solidFill>
                <a:latin typeface="Calibri"/>
              </a:defRPr>
            </a:pPr>
            <a:r>
              <a:t>Started knowing zero React/Next.js/TypeScript. Three weeks later: 110+ features, SSG, API routes, i18n, data viz. Claude doesn't care about your experience level.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One person.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Three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BBF24"/>
                </a:solidFill>
                <a:latin typeface="Calibri"/>
              </a:defRPr>
            </a:pPr>
            <a:r>
              <a:t>110+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A29E"/>
                </a:solidFill>
                <a:latin typeface="Calibri"/>
              </a:defRPr>
            </a:pPr>
            <a:r>
              <a:t>The tools are here. The question isn't whether AI can</a:t>
            </a:r>
            <a:br/>
            <a:r>
              <a:t>help you build — it's what you'll build with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4937760"/>
            <a:ext cx="4572000" cy="82296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16C"/>
                </a:solidFill>
                <a:latin typeface="Calibri"/>
              </a:defRPr>
            </a:pPr>
            <a:r>
              <a:t>Live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D4BF"/>
                </a:solidFill>
                <a:latin typeface="Calibri"/>
              </a:defRPr>
            </a:pPr>
            <a:r>
              <a:t>fqhctalent.com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943600"/>
            <a:ext cx="4572000" cy="822960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98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16C"/>
                </a:solidFill>
                <a:latin typeface="Calibri"/>
              </a:defRPr>
            </a:pPr>
            <a:r>
              <a:t>Built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Claude Code by Anthropic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